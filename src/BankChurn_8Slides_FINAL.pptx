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12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AU" sz="800" b="0" i="0" u="none" strike="noStrike">
                <a:solidFill>
                  <a:srgbClr val="000000"/>
                </a:solidFill>
                <a:latin typeface="Arial"/>
              </a:rPr>
              <a:t>Fig 1: Target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CAF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E5-4571-83B2-BC9004FF6EEC}"/>
              </c:ext>
            </c:extLst>
          </c:dPt>
          <c:dPt>
            <c:idx val="1"/>
            <c:invertIfNegative val="0"/>
            <c:bubble3D val="0"/>
            <c:spPr>
              <a:solidFill>
                <a:srgbClr val="E07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E5-4571-83B2-BC9004FF6E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7963</c:v>
                </c:pt>
                <c:pt idx="1">
                  <c:v>2037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E5-4571-83B2-BC9004FF6E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AU" sz="800" b="0" i="0" u="none" strike="noStrike">
                <a:solidFill>
                  <a:srgbClr val="000000"/>
                </a:solidFill>
                <a:latin typeface="Arial"/>
              </a:rPr>
              <a:t>Fig 2: Churn by Geography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4CAF9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Spain</c:v>
                </c:pt>
                <c:pt idx="2">
                  <c:v>Germany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4204</c:v>
                </c:pt>
                <c:pt idx="1">
                  <c:v>2064</c:v>
                </c:pt>
                <c:pt idx="2">
                  <c:v>1695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9E-4F29-B595-9222B0BF0F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E07B5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France</c:v>
                </c:pt>
                <c:pt idx="1">
                  <c:v>Spain</c:v>
                </c:pt>
                <c:pt idx="2">
                  <c:v>Germany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810</c:v>
                </c:pt>
                <c:pt idx="1">
                  <c:v>413</c:v>
                </c:pt>
                <c:pt idx="2">
                  <c:v>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9E-4F29-B595-9222B0BF0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AU" sz="800" b="0" i="0" u="none" strike="noStrike">
                <a:solidFill>
                  <a:srgbClr val="000000"/>
                </a:solidFill>
                <a:latin typeface="Arial"/>
              </a:rPr>
              <a:t>Fig 3: Churn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4CAF93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3404</c:v>
                </c:pt>
                <c:pt idx="1">
                  <c:v>4559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30-4858-B3BE-2B9679FE85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E07B5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1139</c:v>
                </c:pt>
                <c:pt idx="1">
                  <c:v>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30-4858-B3BE-2B9679FE8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AU" sz="800" b="0" i="0" u="none" strike="noStrike">
                <a:solidFill>
                  <a:srgbClr val="000000"/>
                </a:solidFill>
                <a:latin typeface="Arial"/>
              </a:rPr>
              <a:t>Fig 4: Age by Churn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4CAF93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60-64</c:v>
                </c:pt>
                <c:pt idx="9">
                  <c:v>65+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</c:v>
                </c:pt>
                <c:pt idx="1">
                  <c:v>620</c:v>
                </c:pt>
                <c:pt idx="2">
                  <c:v>900</c:v>
                </c:pt>
                <c:pt idx="3">
                  <c:v>1050</c:v>
                </c:pt>
                <c:pt idx="4">
                  <c:v>860</c:v>
                </c:pt>
                <c:pt idx="5">
                  <c:v>640</c:v>
                </c:pt>
                <c:pt idx="6">
                  <c:v>450</c:v>
                </c:pt>
                <c:pt idx="7">
                  <c:v>250</c:v>
                </c:pt>
                <c:pt idx="8">
                  <c:v>140</c:v>
                </c:pt>
                <c:pt idx="9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1E-42F9-B4AF-E0CA53A8E6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E07B5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60-64</c:v>
                </c:pt>
                <c:pt idx="9">
                  <c:v>65+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</c:v>
                </c:pt>
                <c:pt idx="1">
                  <c:v>65</c:v>
                </c:pt>
                <c:pt idx="2">
                  <c:v>110</c:v>
                </c:pt>
                <c:pt idx="3">
                  <c:v>200</c:v>
                </c:pt>
                <c:pt idx="4">
                  <c:v>360</c:v>
                </c:pt>
                <c:pt idx="5">
                  <c:v>440</c:v>
                </c:pt>
                <c:pt idx="6">
                  <c:v>390</c:v>
                </c:pt>
                <c:pt idx="7">
                  <c:v>280</c:v>
                </c:pt>
                <c:pt idx="8">
                  <c:v>120</c:v>
                </c:pt>
                <c:pt idx="9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1E-42F9-B4AF-E0CA53A8E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KDE</c:v>
                </c:pt>
              </c:strCache>
            </c:strRef>
          </c:tx>
          <c:spPr>
            <a:ln w="19050" cap="flat">
              <a:solidFill>
                <a:srgbClr val="1A7A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8A"/>
              </a:solidFill>
              <a:ln w="9525" cap="flat">
                <a:solidFill>
                  <a:srgbClr val="1A7A8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20-24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60-64</c:v>
                </c:pt>
                <c:pt idx="9">
                  <c:v>65+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200</c:v>
                </c:pt>
                <c:pt idx="1">
                  <c:v>580</c:v>
                </c:pt>
                <c:pt idx="2">
                  <c:v>880</c:v>
                </c:pt>
                <c:pt idx="3">
                  <c:v>1020</c:v>
                </c:pt>
                <c:pt idx="4">
                  <c:v>870</c:v>
                </c:pt>
                <c:pt idx="5">
                  <c:v>660</c:v>
                </c:pt>
                <c:pt idx="6">
                  <c:v>460</c:v>
                </c:pt>
                <c:pt idx="7">
                  <c:v>260</c:v>
                </c:pt>
                <c:pt idx="8">
                  <c:v>145</c:v>
                </c:pt>
                <c:pt idx="9">
                  <c:v>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F1E-42F9-B4AF-E0CA53A8E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AU" sz="900" b="0" i="0" u="none" strike="noStrike">
                <a:solidFill>
                  <a:srgbClr val="000000"/>
                </a:solidFill>
                <a:latin typeface="Arial"/>
              </a:rPr>
              <a:t>Fig 9: Random Forest Feature Importance Scores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1A7A8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5E-4B9B-89F0-2592B23C654A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5E-4B9B-89F0-2592B23C654A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5E-4B9B-89F0-2592B23C654A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F5E-4B9B-89F0-2592B23C654A}"/>
              </c:ext>
            </c:extLst>
          </c:dPt>
          <c:dPt>
            <c:idx val="4"/>
            <c:invertIfNegative val="0"/>
            <c:bubble3D val="0"/>
            <c:spPr>
              <a:solidFill>
                <a:srgbClr val="D0E8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F5E-4B9B-89F0-2592B23C654A}"/>
              </c:ext>
            </c:extLst>
          </c:dPt>
          <c:dPt>
            <c:idx val="5"/>
            <c:invertIfNegative val="0"/>
            <c:bubble3D val="0"/>
            <c:spPr>
              <a:solidFill>
                <a:srgbClr val="D0E8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F5E-4B9B-89F0-2592B23C654A}"/>
              </c:ext>
            </c:extLst>
          </c:dPt>
          <c:dPt>
            <c:idx val="6"/>
            <c:invertIfNegative val="0"/>
            <c:bubble3D val="0"/>
            <c:spPr>
              <a:solidFill>
                <a:srgbClr val="D0E8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F5E-4B9B-89F0-2592B23C654A}"/>
              </c:ext>
            </c:extLst>
          </c:dPt>
          <c:dPt>
            <c:idx val="7"/>
            <c:invertIfNegative val="0"/>
            <c:bubble3D val="0"/>
            <c:spPr>
              <a:solidFill>
                <a:srgbClr val="D0E8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F5E-4B9B-89F0-2592B23C654A}"/>
              </c:ext>
            </c:extLst>
          </c:dPt>
          <c:dPt>
            <c:idx val="8"/>
            <c:invertIfNegative val="0"/>
            <c:bubble3D val="0"/>
            <c:spPr>
              <a:solidFill>
                <a:srgbClr val="D0E8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F5E-4B9B-89F0-2592B23C65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Age</c:v>
                </c:pt>
                <c:pt idx="1">
                  <c:v>Est. Salary</c:v>
                </c:pt>
                <c:pt idx="2">
                  <c:v>Balance</c:v>
                </c:pt>
                <c:pt idx="3">
                  <c:v>Credit Score</c:v>
                </c:pt>
                <c:pt idx="4">
                  <c:v>Num Products</c:v>
                </c:pt>
                <c:pt idx="5">
                  <c:v>IsActiveMember</c:v>
                </c:pt>
                <c:pt idx="6">
                  <c:v>Tenure</c:v>
                </c:pt>
                <c:pt idx="7">
                  <c:v>Gender</c:v>
                </c:pt>
                <c:pt idx="8">
                  <c:v>Geography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18</c:v>
                </c:pt>
                <c:pt idx="2">
                  <c:v>16</c:v>
                </c:pt>
                <c:pt idx="3">
                  <c:v>14</c:v>
                </c:pt>
                <c:pt idx="4">
                  <c:v>11</c:v>
                </c:pt>
                <c:pt idx="5">
                  <c:v>8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F5E-4B9B-89F0-2592B23C65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42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— TITLE]
Welcome everyone. Our project is Predicting Bank Customer Churn Using Machine Learning: Insights for the Australian Banking Sector. We are a group of five MDA512 students under Dr. Samar Shailendra.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— INTRODUCTION + DATASET + RESEARCH QUESTIONS]
Customer churn costs 5–7x more than retention. Australia's CDR (2020) made switching banks easier, raising pressure on the Big Four. Our dataset: 10,000 Kaggle records, 14 attributes, 80% retained / 20% churned. No missing values. Five research questions guide the entire analysis from understanding churn drivers to Australian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— PREPROCESSING + HYPOTHESES]
Four preprocessing steps: remove identifiers, one-hot encode categorical variables with drop_first, 80/20 stratified split, StandardScaler fitted on training only. All three hypotheses confirmed — H1 geography, H2 age/gender, H3 non-linear models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— EDA]
Fig 1: 80% retained, 20% churned — class imbalance drives our metric choice.
Fig 2: Germany ~32% churn vs France/Spain ~16% — supports H1.
Fig 3: Female ~25% vs male ~16% — supports H2.
Fig 4: Age 40–60 is the peak churn band — single most important EDA finding.
Fig 5 Heatmap: Age r=+0.29 strongest positive, IsActiveMember r=−0.16 strongest negative. Weak correlations overall → non-linear models needed — basis for H3.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— MODELS + RESULTS]
Three algorithms spanning low to high complexity. Logistic Regression: 81% accuracy but only 19% recall — class imbalance trap. Random Forest: AUC 0.85, recall 0.46. Gradient Boosting: best across all metrics — AUC 0.87, F1 0.60, recall 0.49, correctly identified 407 churners from 2,000 test records. Key lesson: accuracy is misleading with imbalanced data — ROC-AUC and Recall are the right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— FEATURE IMPORTANCE + COST OF CHURN]
Age is #1 at ~24% — confirmed by EDA correlation r=0.29 and KDE histogram. Financial features (Salary + Balance + Credit Score) = ~48% combined. IsActiveMember at 8% is the most actionable — banks can directly influence engagement.
Financial impact: $573 revenue per AU customer (APRA 2024). 2,037 churners = ~$1.17M lost. CommBank with 15M customers at 1% churn = $86M lost annually. Our model catching 49% of churners with early intervention = massive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— RECOMMENDATIONS]
Five recommendations, all evidence-based and traceable.
01 — ML churn scores for targeted campaigns.
02 — Age-segmented cashback for 20–28 year olds — build loyalty before the risk window.
03 — Localised investment in high-churn regions — mirror Germany finding.
04 — Chemist Warehouse / supermarket partnerships for 40–60 cohort.
05 — Flexible mortgage products leveraging FHBG and FHSS incentives for 40–60 age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— CONCLUSION &amp; FUTURE WORK]
Five key takeaways: Gradient Boosting best at AUC 0.87 and 49% recall. Age #1 predictor confirmed three ways. Germany 32% churn demands localised action. Active engagement is protective. All 3 hypotheses confirmed.
Future work: SMOTE for imbalance, SHAP for explainability, XGBoost/neural nets, and APRA data validation for Australian context.
Thank you — we're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Bank Customer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Using Machine Learning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</a:rPr>
              <a:t>Insights for the Australian Banking Sector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816352"/>
            <a:ext cx="4572000" cy="36576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EF"/>
                </a:solidFill>
              </a:rPr>
              <a:t>Aravind Duggani  •  Preethi Mothe  •  Prasan Rana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E8EF"/>
                </a:solidFill>
              </a:rPr>
              <a:t>Rohan Thapa  •  Rhiddhi Chakma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393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MDA512 – Data Science  |  Assignment 2  |  Dr. Samar Shailendra  |  Trimester 1,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32320" y="182880"/>
            <a:ext cx="2560320" cy="2560320"/>
          </a:xfrm>
          <a:prstGeom prst="ellipse">
            <a:avLst/>
          </a:prstGeom>
          <a:solidFill>
            <a:srgbClr val="1A7A8A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7680960" y="2468880"/>
            <a:ext cx="1645920" cy="164592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CONTEXT &amp; FRAMEWORK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Dataset &amp; Research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743200" cy="342900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• Churn costs 5–7× more than retention
• Australia's CDR (2020) made switching banks easier
• Big Four face growing competitive pressure
• ML can shift banks from reactive → proactive
</a:t>
            </a:r>
            <a:r>
              <a:rPr lang="en-US" sz="950" b="1" dirty="0">
                <a:solidFill>
                  <a:srgbClr val="D0E8EF"/>
                </a:solidFill>
              </a:rPr>
              <a:t>Dataset: </a:t>
            </a:r>
            <a:r>
              <a:rPr lang="en-US" sz="950" dirty="0">
                <a:solidFill>
                  <a:srgbClr val="D0E8EF"/>
                </a:solidFill>
              </a:rPr>
              <a:t>10,000 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(France, Germany, Spain)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via Kaggle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14 attributes — 80% stayed,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20% churned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298448"/>
          <a:ext cx="2743200" cy="2331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Credit Score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350–850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Geography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FR/DE/ES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Gender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M/F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18–92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Balance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EUR amt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Num Products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1–4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IsActiveMember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Binary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 or 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7A8A"/>
                          </a:solidFill>
                        </a:rPr>
                        <a:t>Exited (Target)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Binary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1=Left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46120" y="3703320"/>
            <a:ext cx="28346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3291840" y="376732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8A"/>
                </a:solidFill>
              </a:rPr>
              <a:t>No missing values  •  No duplicates  •  Stratified 80/20 split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91840" y="413308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Clean dataset — ready for direct modelling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217920" y="1298448"/>
            <a:ext cx="25146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6309360" y="13898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5 Research Questions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755648"/>
            <a:ext cx="32004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6309360" y="1792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RQ1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675120" y="177393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Which demographics &amp; behaviours drive churn?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9360" y="2322576"/>
            <a:ext cx="32004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6309360" y="2359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RQ2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675120" y="234086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Does churn vary by geography?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309360" y="2889504"/>
            <a:ext cx="32004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30936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RQ3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75120" y="290779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Which ML algorithm predicts churn best?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309360" y="3456432"/>
            <a:ext cx="32004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6309360" y="3493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RQ4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675120" y="347472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What retention strategies should banks use?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09360" y="4023360"/>
            <a:ext cx="32004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4"/>
          <p:cNvSpPr/>
          <p:nvPr/>
        </p:nvSpPr>
        <p:spPr>
          <a:xfrm>
            <a:off x="6309360" y="4059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RQ5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5120" y="404164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How do findings apply to Australian banking?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ANALYSIS &amp; FRAMEWORK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Hypotheses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64008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①  Removed identifiers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RowNumber, CustomerID, Surname dropped — no predictive signal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298448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26280" y="1298448"/>
            <a:ext cx="64008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90872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②  One-hot encoding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0872" y="1755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Geography &amp; Gender encoded with drop_first=True — avoids multicollinearity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64008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30352" y="2596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③  80/20 stratified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9626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Preserves 20% churn ratio in both training and test sets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505456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526280" y="2505456"/>
            <a:ext cx="64008" cy="10789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690872" y="2596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④  StandardScaler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90872" y="29626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Fitted only on training set — prevents data leakage into test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30752"/>
            <a:ext cx="841248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Tools: Python  •  pandas  •  scikit-learn  •  StandardScaler  •  train_test_split(stratify=y)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21945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11480" y="411480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H1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4114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Geography significantly influences churn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4114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Germany ~32% vs France/Spain ~16%  ✔ Confirmed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219456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11480" y="43616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H2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" y="43616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Age &amp; gender are key demographic churn drivers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43616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Age 40–60 peak; female ~25% vs male ~16%  ✔ Confirmed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590288"/>
            <a:ext cx="8412480" cy="219456"/>
          </a:xfrm>
          <a:prstGeom prst="rect">
            <a:avLst/>
          </a:prstGeom>
          <a:solidFill>
            <a:srgbClr val="0D2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11480" y="46085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H3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" y="46085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Non-linear models outperform linear baseline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460857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C39A"/>
                </a:solidFill>
              </a:rPr>
              <a:t>Gradient Boosting AUC 0.87 vs Logistic Regression 0.77  ✔ Confirmed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EDA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21031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2606040" y="1280160"/>
          <a:ext cx="22860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5029200" y="1280160"/>
          <a:ext cx="1828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3"/>
          <p:cNvGraphicFramePr/>
          <p:nvPr/>
        </p:nvGraphicFramePr>
        <p:xfrm>
          <a:off x="6995160" y="1280160"/>
          <a:ext cx="17373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Shape 3"/>
          <p:cNvSpPr/>
          <p:nvPr/>
        </p:nvSpPr>
        <p:spPr>
          <a:xfrm>
            <a:off x="365760" y="3090672"/>
            <a:ext cx="2011680" cy="960120"/>
          </a:xfrm>
          <a:prstGeom prst="rect">
            <a:avLst/>
          </a:prstGeom>
          <a:solidFill>
            <a:srgbClr val="1A7A8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4"/>
          <p:cNvSpPr/>
          <p:nvPr/>
        </p:nvSpPr>
        <p:spPr>
          <a:xfrm>
            <a:off x="36576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80/20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36576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Retained vs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Churned split</a:t>
            </a:r>
            <a:endParaRPr lang="en-US" sz="800" dirty="0"/>
          </a:p>
        </p:txBody>
      </p:sp>
      <p:sp>
        <p:nvSpPr>
          <p:cNvPr id="12" name="Shape 6"/>
          <p:cNvSpPr/>
          <p:nvPr/>
        </p:nvSpPr>
        <p:spPr>
          <a:xfrm>
            <a:off x="2560320" y="3090672"/>
            <a:ext cx="2011680" cy="960120"/>
          </a:xfrm>
          <a:prstGeom prst="rect">
            <a:avLst/>
          </a:prstGeom>
          <a:solidFill>
            <a:srgbClr val="E07B5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7"/>
          <p:cNvSpPr/>
          <p:nvPr/>
        </p:nvSpPr>
        <p:spPr>
          <a:xfrm>
            <a:off x="256032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~32%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56032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Germany churn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vs 16% others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4754880" y="3090672"/>
            <a:ext cx="2011680" cy="960120"/>
          </a:xfrm>
          <a:prstGeom prst="rect">
            <a:avLst/>
          </a:prstGeom>
          <a:solidFill>
            <a:srgbClr val="F4B94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Text 10"/>
          <p:cNvSpPr/>
          <p:nvPr/>
        </p:nvSpPr>
        <p:spPr>
          <a:xfrm>
            <a:off x="475488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~25%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475488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Female churn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vs 16% male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6949440" y="3090672"/>
            <a:ext cx="2011680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3"/>
          <p:cNvSpPr/>
          <p:nvPr/>
        </p:nvSpPr>
        <p:spPr>
          <a:xfrm>
            <a:off x="694944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40–60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94944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Peak churn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age band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16"/>
          <p:cNvSpPr/>
          <p:nvPr/>
        </p:nvSpPr>
        <p:spPr>
          <a:xfrm>
            <a:off x="365760" y="4133088"/>
            <a:ext cx="64008" cy="6583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7"/>
          <p:cNvSpPr/>
          <p:nvPr/>
        </p:nvSpPr>
        <p:spPr>
          <a:xfrm>
            <a:off x="502920" y="4178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</a:rPr>
              <a:t>Fig 5 — Correlation Heatmap Key Findings: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0292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Age r=+0.29 (strongest positive correlation with churn)   •   IsActiveMember r=−0.16 (strongest negative)   •   Weak overall linear correlations → non-linear models required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0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MODELLING &amp; 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&amp; Performance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43891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Low Complexity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Accuracy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47088" y="20299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0.81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042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ROC-AUC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47088" y="230428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0.77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5786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Recall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47088" y="257860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0.19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852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F1-Score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47088" y="285292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0.28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36392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Linear baseline. Catches only 19% of churners.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0" y="1298448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3200400" y="1298448"/>
            <a:ext cx="2651760" cy="43891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3200400" y="1335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1783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Medium Complexity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0128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Accuracy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81728" y="20299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A8A"/>
                </a:solidFill>
              </a:rPr>
              <a:t>0.86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23042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ROC-AUC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81728" y="230428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A8A"/>
                </a:solidFill>
              </a:rPr>
              <a:t>0.85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25786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Recall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81728" y="257860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A8A"/>
                </a:solidFill>
              </a:rPr>
              <a:t>0.46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2852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F1-Score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81728" y="285292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A8A"/>
                </a:solidFill>
              </a:rPr>
              <a:t>0.58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136392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Parallel ensemble. Captures non-linear patterns.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35040" y="1298448"/>
            <a:ext cx="2651760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6035040" y="1298448"/>
            <a:ext cx="265176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035040" y="1335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Gradient Boosting 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178308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High Complexity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44768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Accuracy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16368" y="20299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0.87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23042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ROC-AUC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16368" y="230428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0.87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44768" y="25786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Recall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16368" y="257860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0.49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2852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F1-Score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16368" y="285292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0.60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26480" y="3136392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Sequential ensemble. Best performer. Deploy this.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3291840"/>
            <a:ext cx="1645920" cy="1389888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365760" y="34015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Best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Model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38221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365760" y="4315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AUC 0.87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8840" y="3291840"/>
          <a:ext cx="5715000" cy="138988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C0000"/>
                          </a:solidFill>
                        </a:rPr>
                        <a:t>0.19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Gradient Boost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0.87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0.79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0.49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7A8A"/>
                          </a:solidFill>
                        </a:rPr>
                        <a:t>0.87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365760" y="4736592"/>
            <a:ext cx="8412480" cy="28346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r>
              <a:rPr lang="en-US" sz="800" dirty="0">
                <a:solidFill>
                  <a:srgbClr val="FFFFFF"/>
                </a:solidFill>
              </a:rPr>
              <a:t>⚠  Key: LR's 81% accuracy catches only 19% of churners — a model always predicting 'no churn' gets 80%. ROC-AUC and Recall are what matter with imbalanced data.</a:t>
            </a:r>
            <a:endParaRPr lang="en-US" sz="800" dirty="0"/>
          </a:p>
          <a:p>
            <a:endParaRPr lang="en-AU" sz="800" dirty="0"/>
          </a:p>
        </p:txBody>
      </p:sp>
      <p:sp>
        <p:nvSpPr>
          <p:cNvPr id="50" name="Text 47"/>
          <p:cNvSpPr/>
          <p:nvPr/>
        </p:nvSpPr>
        <p:spPr>
          <a:xfrm>
            <a:off x="411480" y="4745736"/>
            <a:ext cx="8321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 dirty="0"/>
          </a:p>
        </p:txBody>
      </p:sp>
      <p:sp>
        <p:nvSpPr>
          <p:cNvPr id="52" name="Text 49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INSIGHTS &amp; IMPACT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The Real Cost of Churn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98448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98448"/>
            <a:ext cx="1481328" cy="153619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5577840" y="1298448"/>
            <a:ext cx="1481328" cy="54864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5577840" y="14081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7A8A"/>
                </a:solidFill>
              </a:rPr>
              <a:t>$573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650992" y="1993392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Avg annual revenue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per AU 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(APRA 2024)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178040" y="1298448"/>
            <a:ext cx="1481328" cy="153619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7178040" y="1298448"/>
            <a:ext cx="1481328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7178040" y="14081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342"/>
                </a:solidFill>
              </a:rPr>
              <a:t>5–7×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51192" y="1993392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More costly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acquire vs retain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a customer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577840" y="2962656"/>
            <a:ext cx="1481328" cy="153619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5577840" y="2962656"/>
            <a:ext cx="1481328" cy="54864"/>
          </a:xfrm>
          <a:prstGeom prst="rect">
            <a:avLst/>
          </a:prstGeom>
          <a:solidFill>
            <a:srgbClr val="E07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5577840" y="30723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5A"/>
                </a:solidFill>
              </a:rPr>
              <a:t>~$1.17M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650992" y="365760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Revenue lost from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2,037 churners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in our dataset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178040" y="2962656"/>
            <a:ext cx="1481328" cy="1536192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6"/>
          <p:cNvSpPr/>
          <p:nvPr/>
        </p:nvSpPr>
        <p:spPr>
          <a:xfrm>
            <a:off x="7178040" y="2962656"/>
            <a:ext cx="1481328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7"/>
          <p:cNvSpPr/>
          <p:nvPr/>
        </p:nvSpPr>
        <p:spPr>
          <a:xfrm>
            <a:off x="7178040" y="3072384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49%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251192" y="3657600"/>
            <a:ext cx="13350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Churners our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model correctly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0E8EF"/>
                </a:solidFill>
              </a:rPr>
              <a:t>flags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65760" y="4645152"/>
            <a:ext cx="8412480" cy="182880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457200" y="46542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💡  Deploying this model and retaining just 20% of flagged churners could save an Australian bank with 500,000 customers ~$57M per year.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2342"/>
                </a:solidFill>
              </a:rPr>
              <a:t>STRATEGY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for Australian Banks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E8EF"/>
                </a:solidFill>
              </a:rPr>
              <a:t>Five data-driven retention strategies — each traceable to a specific ML finding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69080" cy="96012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6093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Targeted brand-awareness campaigns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920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8EF"/>
                </a:solidFill>
              </a:rPr>
              <a:t>Use ML churn probability scores to send personalised offers to high-risk segments — not blanket marketing.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2688" y="228600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↳ Based on: Gradient Boosting churn scores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624328"/>
            <a:ext cx="4069080" cy="96012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65760" y="2624328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65760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66090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Age-segmented cashback (ages 20–28)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29718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8EF"/>
                </a:solidFill>
              </a:rPr>
              <a:t>Build loyalty before customers enter the 40–60 high-risk window through cashback and preferential rates.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32688" y="33375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↳ Based on: Figure 4 — age 40–60 peak churn band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069080" cy="96012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365760" y="3675888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365760" y="39502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7124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Localised customer service investment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40233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8EF"/>
                </a:solidFill>
              </a:rPr>
              <a:t>Identify high-churn Australian regions (like Germany equivalent) and invest more in relationship managers there.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32688" y="43891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↳ Based on: Figure 2 — Germany 32% vs 16%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1572768"/>
            <a:ext cx="4069080" cy="96012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4617720" y="1572768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617720" y="18470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84648" y="16093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Retail &amp; health-sector partnerships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84648" y="1920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8EF"/>
                </a:solidFill>
              </a:rPr>
              <a:t>Partner with Chemist Warehouse / supermarkets to offer everyday discounts to the 40–60 cohort.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84648" y="228600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↳ Based on: Age + IsActiveMember features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2624328"/>
            <a:ext cx="4069080" cy="96012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4617720" y="2624328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617720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4648" y="266090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Flexible mortgage products (ages 40–60)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84648" y="29718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8EF"/>
                </a:solidFill>
              </a:rPr>
              <a:t>Leverage FHBG &amp; FHSS incentives to create long-term stickiness in the highest-risk demographic.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84648" y="333756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↳ Based on: Peak churn age = 40–60 band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438912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384048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607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Gradient Boosting was the best model — ROC-AUC 0.87, capturing 49% of actual churners (407 from 2,000 test records).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8229600" cy="438912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4048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Age is the #1 churn predictor at ~24% feature importance — confirmed by EDA correlation (r=0.29), KDE histogram, and ML model.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438912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384048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57200" y="2066544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4825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Geography matters — Germany's 32% churn rate is nearly double France &amp; Spain, demanding region-specific interventions.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438912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384048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5420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Active engagement is protective (r=−0.16) — banks should invest in customer activation and engagement programmes.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438912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384048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57200" y="3054096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</a:rPr>
              <a:t>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0358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EF"/>
                </a:solidFill>
              </a:rPr>
              <a:t>All 3 hypotheses confirmed — H1 Geography, H2 Age/Gender, H3 Non-linear models — with both visual and quantitative evidence.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36576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1920240" cy="77724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7200" y="4078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🔬 SMOTE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435254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EF"/>
                </a:solidFill>
              </a:rPr>
              <a:t>Address 80/20 class imbalance directly in training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0" y="4041648"/>
            <a:ext cx="1920240" cy="77724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2560320" y="4078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🧠 SHAP Values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33472" y="435254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EF"/>
                </a:solidFill>
              </a:rPr>
              <a:t>Explainable AI for banking regulatory compliance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4041648"/>
            <a:ext cx="1920240" cy="77724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4663440" y="4078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⚡ XGBoost &amp; Neural Nets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36592" y="435254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EF"/>
                </a:solidFill>
              </a:rPr>
              <a:t>Test advanced algorithms with hyperparameter tuning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66560" y="4041648"/>
            <a:ext cx="1920240" cy="77724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766560" y="4078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🇦🇺 APRA Validation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39712" y="4352544"/>
            <a:ext cx="1773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8EF"/>
                </a:solidFill>
              </a:rPr>
              <a:t>Validate on real Australian banking data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Thank you — we are happy to take questions.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7A8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8046720" y="4901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2ea577-6692-45fe-ade8-5b376efd1fe2}" enabled="1" method="Privileged" siteId="{53aaf5b4-420c-4edc-a867-e6fab4d41e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1713</Words>
  <Application>Microsoft Office PowerPoint</Application>
  <PresentationFormat>On-screen Show (16:9)</PresentationFormat>
  <Paragraphs>246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Bank Customer Churn Using Machine Learning</dc:title>
  <dc:subject>PptxGenJS Presentation</dc:subject>
  <dc:creator>PptxGenJS</dc:creator>
  <cp:lastModifiedBy>Theresa Foss</cp:lastModifiedBy>
  <cp:revision>3</cp:revision>
  <dcterms:created xsi:type="dcterms:W3CDTF">2026-05-25T10:00:06Z</dcterms:created>
  <dcterms:modified xsi:type="dcterms:W3CDTF">2026-05-25T10:09:47Z</dcterms:modified>
</cp:coreProperties>
</file>